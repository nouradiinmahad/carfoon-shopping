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ONLINE SHOPPING MANAGEMENT SYSTEM</a:t>
            </a:r>
          </a:p>
          <a:p>
            <a:pPr>
              <a:spcAft>
                <a:spcPts val="4000"/>
              </a:spcAft>
              <a:defRPr sz="2200">
                <a:solidFill>
                  <a:srgbClr val="10B981"/>
                </a:solidFill>
                <a:latin typeface="Segoe UI"/>
              </a:defRPr>
            </a:pPr>
            <a:r>
              <a:t>Python Tkinter Desktop Client &amp; Oracle PL/SQL Integration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SIMAD UNIVERSITY - Faculty of Computing</a:t>
            </a:r>
            <a:br/>
            <a:r>
              <a:t>Course: Oracle Database &amp; PL/SQL Programming</a:t>
            </a:r>
            <a:br/>
            <a:r>
              <a:t>Client Application Platform: Standalone Python Tkinter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1. Project Overview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Objectives: </a:t>
            </a:r>
            <a:r>
              <a:rPr sz="1500">
                <a:solidFill>
                  <a:srgbClr val="475569"/>
                </a:solidFill>
                <a:latin typeface="Segoe UI"/>
              </a:rPr>
              <a:t>Develop a standalone desktop retail e-commerce management system (CARFOON shopping) that interfaces directly with Oracle XE.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Dual-Role Application: </a:t>
            </a:r>
            <a:r>
              <a:rPr sz="1500">
                <a:solidFill>
                  <a:srgbClr val="475569"/>
                </a:solidFill>
                <a:latin typeface="Segoe UI"/>
              </a:rPr>
              <a:t>Enables customers to browse items and purchase goods, and administrators to manage catalog items and track transactions in a single client interface.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Database-Centric Logic: </a:t>
            </a:r>
            <a:r>
              <a:rPr sz="1500">
                <a:solidFill>
                  <a:srgbClr val="475569"/>
                </a:solidFill>
                <a:latin typeface="Segoe UI"/>
              </a:rPr>
              <a:t>Ensures all critical calculations, constraints, inventory rules, and compliance logs reside and execute directly inside the database schema.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Primary Features: </a:t>
            </a:r>
            <a:r>
              <a:rPr sz="1500">
                <a:solidFill>
                  <a:srgbClr val="475569"/>
                </a:solidFill>
                <a:latin typeface="Segoe UI"/>
              </a:rPr>
              <a:t>Secure login panels, catalog search with image thumbnails, shopping cart sessions, PL/SQL bulk checkouts, receipts, and a Matplotlib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2. Oracle Database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Oracle XE 1522 Instance: </a:t>
            </a:r>
            <a:r>
              <a:rPr sz="1500">
                <a:solidFill>
                  <a:srgbClr val="475569"/>
                </a:solidFill>
                <a:latin typeface="Segoe UI"/>
              </a:rPr>
              <a:t>The backend is powered by a local Oracle Database Express Edition (XE) instance listening on port 1522.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Dedicated User Schema: </a:t>
            </a:r>
            <a:r>
              <a:rPr sz="1500">
                <a:solidFill>
                  <a:srgbClr val="475569"/>
                </a:solidFill>
                <a:latin typeface="Segoe UI"/>
              </a:rPr>
              <a:t>All operations execute under the common user c##shop_user with explicit table privileges, ensuring strict isolation.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Thin Connection Model: </a:t>
            </a:r>
            <a:r>
              <a:rPr sz="1500">
                <a:solidFill>
                  <a:srgbClr val="475569"/>
                </a:solidFill>
                <a:latin typeface="Segoe UI"/>
              </a:rPr>
              <a:t>Leverages the python-oracledb Thin Mode driver. This creates direct socket communication from the Tkinter client to the database without requiring Oracle Instant Client binaries.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Transaction Safety: </a:t>
            </a:r>
            <a:r>
              <a:rPr sz="1500">
                <a:solidFill>
                  <a:srgbClr val="475569"/>
                </a:solidFill>
                <a:latin typeface="Segoe UI"/>
              </a:rPr>
              <a:t>Utilizes Oracle transaction controls, ensuring all DML operations execute atomically under connection-specific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3. Relational Schema &amp;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Core Database Tables: </a:t>
            </a:r>
            <a:r>
              <a:rPr sz="1500">
                <a:solidFill>
                  <a:srgbClr val="475569"/>
                </a:solidFill>
                <a:latin typeface="Segoe UI"/>
              </a:rPr>
              <a:t>Enforces relations across 9 tables: USERS, PRODUCTS, CATEGORIES, CART, CART_ITEMS, ORDERS, ORDER_ITEMS, PAYMENTS, and ORDER_AUDIT_LOGS.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Referential Integrity: </a:t>
            </a:r>
            <a:r>
              <a:rPr sz="1500">
                <a:solidFill>
                  <a:srgbClr val="475569"/>
                </a:solidFill>
                <a:latin typeface="Segoe UI"/>
              </a:rPr>
              <a:t>Enforces foreign keys, primary keys, unique constraints (e.g., unique emails/product names), and CASCADE rules to prevent dangling references.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Normalized Design: </a:t>
            </a:r>
            <a:r>
              <a:rPr sz="1500">
                <a:solidFill>
                  <a:srgbClr val="475569"/>
                </a:solidFill>
                <a:latin typeface="Segoe UI"/>
              </a:rPr>
              <a:t>Follows Third Normal Form (3NF) to eliminate data anomalies and optimize insert/update speeds for catalog inventory and transaction records.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Audit Logs Tracking: </a:t>
            </a:r>
            <a:r>
              <a:rPr sz="1500">
                <a:solidFill>
                  <a:srgbClr val="475569"/>
                </a:solidFill>
                <a:latin typeface="Segoe UI"/>
              </a:rPr>
              <a:t>Keeps a detailed log history of database modifications, recording user context, dates, and actions for security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4. Database Triggers &amp;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Stock Adjustment (trg_update_stock): </a:t>
            </a:r>
            <a:r>
              <a:rPr sz="1500">
                <a:solidFill>
                  <a:srgbClr val="475569"/>
                </a:solidFill>
                <a:latin typeface="Segoe UI"/>
              </a:rPr>
              <a:t>An AFTER INSERT trigger on ORDER_ITEMS. Instantly decrements product inventory levels in PRODUCTS when line items are checked out.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System Audit Logging (trg_system_audit): </a:t>
            </a:r>
            <a:r>
              <a:rPr sz="1500">
                <a:solidFill>
                  <a:srgbClr val="475569"/>
                </a:solidFill>
                <a:latin typeface="Segoe UI"/>
              </a:rPr>
              <a:t>An AFTER INSERT OR UPDATE trigger on PRODUCTS that logs inventory movements directly into the ORDER_AUDIT_LOGS table.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Auto-Increment Generators: </a:t>
            </a:r>
            <a:r>
              <a:rPr sz="1500">
                <a:solidFill>
                  <a:srgbClr val="475569"/>
                </a:solidFill>
                <a:latin typeface="Segoe UI"/>
              </a:rPr>
              <a:t>BEFORE INSERT triggers on tables auto-fetch primary keys from Oracle sequence objects, simplifying insert queries.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Benefits: </a:t>
            </a:r>
            <a:r>
              <a:rPr sz="1500">
                <a:solidFill>
                  <a:srgbClr val="475569"/>
                </a:solidFill>
                <a:latin typeface="Segoe UI"/>
              </a:rPr>
              <a:t>Encapsulates workflow constraints inside the database catalog. This prevents the Tkinter client from having to manually calculate stock or log audit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5. Order Management PL/SQL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Package-Based Encapsulation: </a:t>
            </a:r>
            <a:r>
              <a:rPr sz="1500">
                <a:solidFill>
                  <a:srgbClr val="475569"/>
                </a:solidFill>
                <a:latin typeface="Segoe UI"/>
              </a:rPr>
              <a:t>Collects database procedures and functions inside the PKG_ORDER_MANAGEMENT package, maintaining validation logic.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Procedure: add_item_to_cart: </a:t>
            </a:r>
            <a:r>
              <a:rPr sz="1500">
                <a:solidFill>
                  <a:srgbClr val="475569"/>
                </a:solidFill>
                <a:latin typeface="Segoe UI"/>
              </a:rPr>
              <a:t>Verifies stock levels and inserts new items into the CART_ITEMS table, raising a custom exception if stock is insufficient.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Procedure: process_bulk_checkout: </a:t>
            </a:r>
            <a:r>
              <a:rPr sz="1500">
                <a:solidFill>
                  <a:srgbClr val="475569"/>
                </a:solidFill>
                <a:latin typeface="Segoe UI"/>
              </a:rPr>
              <a:t>Converts cart items to an order, inserts order items, registers payments, and empties the cart atomically in a single session invocation.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Function: calculate_order_total: </a:t>
            </a:r>
            <a:r>
              <a:rPr sz="1500">
                <a:solidFill>
                  <a:srgbClr val="475569"/>
                </a:solidFill>
                <a:latin typeface="Segoe UI"/>
              </a:rPr>
              <a:t>Queries cart details, aggregates product prices, and calculates order totals, returning the numeric sum dynamically.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6. Exception Handling &amp; UI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Business Logic Safeguards: </a:t>
            </a:r>
            <a:r>
              <a:rPr sz="1500">
                <a:solidFill>
                  <a:srgbClr val="475569"/>
                </a:solidFill>
                <a:latin typeface="Segoe UI"/>
              </a:rPr>
              <a:t>Oracle raise_application_error triggers abort transaction actions if validation checks fail, maintaining integrity.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User-Defined Exception Tracing: </a:t>
            </a:r>
            <a:r>
              <a:rPr sz="1500">
                <a:solidFill>
                  <a:srgbClr val="475569"/>
                </a:solidFill>
                <a:latin typeface="Segoe UI"/>
              </a:rPr>
              <a:t>Package procedures define exceptions like e_invalid_quantity (PRAGMA EXCEPTION_INIT) to stop checkout if stocks are exceeded.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Graceful ORA-00001 Handling: </a:t>
            </a:r>
            <a:r>
              <a:rPr sz="1500">
                <a:solidFill>
                  <a:srgbClr val="475569"/>
                </a:solidFill>
                <a:latin typeface="Segoe UI"/>
              </a:rPr>
              <a:t>If an admin submits duplicate product or category names, the Tkinter app catches the database ORA-00001 constraint error and shows a readable warning.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Client-Side Translation: </a:t>
            </a:r>
            <a:r>
              <a:rPr sz="1500">
                <a:solidFill>
                  <a:srgbClr val="475569"/>
                </a:solidFill>
                <a:latin typeface="Segoe UI"/>
              </a:rPr>
              <a:t>The application translates raw database errors into user-friendly prompts, avoiding technical system crashes.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7. Desktop Client UI &amp; Visual Polish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Assign System Roles: </a:t>
            </a:r>
            <a:r>
              <a:rPr sz="1500">
                <a:solidFill>
                  <a:srgbClr val="475569"/>
                </a:solidFill>
                <a:latin typeface="Segoe UI"/>
              </a:rPr>
              <a:t>Only the primary administrator ('admin@gmail.com') is authorized to update roles. The primary 'admin@gmail.com' role itself is locked and non-editable.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User Details Editor: </a:t>
            </a:r>
            <a:r>
              <a:rPr sz="1500">
                <a:solidFill>
                  <a:srgbClr val="475569"/>
                </a:solidFill>
                <a:latin typeface="Segoe UI"/>
              </a:rPr>
              <a:t>Allows admins to update customer profiles (Full Name, Email Address, and Hashed Password) via sidebar entries.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Security Standards: </a:t>
            </a:r>
            <a:r>
              <a:rPr sz="1500">
                <a:solidFill>
                  <a:srgbClr val="475569"/>
                </a:solidFill>
                <a:latin typeface="Segoe UI"/>
              </a:rPr>
              <a:t>Enforces authentication checks. Default testing credentials are deleted so entry boxes load blank, requiring manual logins.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Interactive Subviews: </a:t>
            </a:r>
            <a:r>
              <a:rPr sz="1500">
                <a:solidFill>
                  <a:srgbClr val="475569"/>
                </a:solidFill>
                <a:latin typeface="Segoe UI"/>
              </a:rPr>
              <a:t>Includes multi-column catalog lists, an admin inventory editor, audit logs table grids, and popup transaction receipts.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8. Product Images &amp; Dynamic Previews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Dynamic Copy &amp; Db Sync: </a:t>
            </a:r>
            <a:r>
              <a:rPr sz="1500">
                <a:solidFill>
                  <a:srgbClr val="475569"/>
                </a:solidFill>
                <a:latin typeface="Segoe UI"/>
              </a:rPr>
              <a:t>Admins select images from file dialogs; the application copies them to local `/uploads` and saves the filename to the database.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In-Table Catalog Thumbnails: </a:t>
            </a:r>
            <a:r>
              <a:rPr sz="1500">
                <a:solidFill>
                  <a:srgbClr val="475569"/>
                </a:solidFill>
                <a:latin typeface="Segoe UI"/>
              </a:rPr>
              <a:t>The shopping tree catalog has 48px tall rows, displaying a 40x40 thumbnail of each product directly in the table list.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Layout Containers (tk.Frame): </a:t>
            </a:r>
            <a:r>
              <a:rPr sz="1500">
                <a:solidFill>
                  <a:srgbClr val="475569"/>
                </a:solidFill>
                <a:latin typeface="Segoe UI"/>
              </a:rPr>
              <a:t>Wrapping the side preview labels in fixed 240x160 frames keeps aspect ratios intact and prevents window elements from shifting.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Click-to-Popup Full Resolution: </a:t>
            </a:r>
            <a:r>
              <a:rPr sz="1500">
                <a:solidFill>
                  <a:srgbClr val="475569"/>
                </a:solidFill>
                <a:latin typeface="Segoe UI"/>
              </a:rPr>
              <a:t>Hovering over the preview changes the cursor to a hand. Clicking the preview displays the full high-res original image in a centered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9. Analytical Charts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Matplotlib UI Analytics: </a:t>
            </a:r>
            <a:r>
              <a:rPr sz="1500">
                <a:solidFill>
                  <a:srgbClr val="CBD5E1"/>
                </a:solidFill>
                <a:latin typeface="Segoe UI"/>
              </a:rPr>
              <a:t>Admins view a live business summary with real-time category sales distribution and order status donut charts.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Database-Centric System: </a:t>
            </a:r>
            <a:r>
              <a:rPr sz="1500">
                <a:solidFill>
                  <a:srgbClr val="CBD5E1"/>
                </a:solidFill>
                <a:latin typeface="Segoe UI"/>
              </a:rPr>
              <a:t>All constraints, triggers, and PL/SQL package subprograms operate directly inside Oracle XE, maintaining schema integrity.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Clean Tkinter Integrations: </a:t>
            </a:r>
            <a:r>
              <a:rPr sz="1500">
                <a:solidFill>
                  <a:srgbClr val="CBD5E1"/>
                </a:solidFill>
                <a:latin typeface="Segoe UI"/>
              </a:rPr>
              <a:t>Supports secure checkout, item addition, transaction processing, receipt generation, and audits in a clean desktop interface.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Reliability &amp; Scalability: </a:t>
            </a:r>
            <a:r>
              <a:rPr sz="1500">
                <a:solidFill>
                  <a:srgbClr val="CBD5E1"/>
                </a:solidFill>
                <a:latin typeface="Segoe UI"/>
              </a:rPr>
              <a:t>The combination of thin-mode connection, encapsulated procedures, and automated triggers ensures a highly reliable e-commerce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